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1F6FB"/>
                </a:solidFill>
                <a:latin typeface="Aptos"/>
              </a:rPr>
              <a:t>CYBORNIX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FD6C2"/>
                </a:solidFill>
                <a:latin typeface="Aptos"/>
              </a:rPr>
              <a:t>TEAM STRUCTURE • TECHNICAL OWNERSHIP •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FB1C7"/>
                </a:solidFill>
                <a:latin typeface="Aptos"/>
              </a:rPr>
              <a:t>SIH Internal Hackathon — clear role separation with no overlap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63240"/>
            <a:ext cx="3154680" cy="141732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063240"/>
            <a:ext cx="54864" cy="1417320"/>
          </a:xfrm>
          <a:prstGeom prst="rect">
            <a:avLst/>
          </a:prstGeom>
          <a:solidFill>
            <a:srgbClr val="2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3191256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D6C2"/>
                </a:solidFill>
                <a:latin typeface="Aptos"/>
              </a:rPr>
              <a:t>CORE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630168"/>
            <a:ext cx="278892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1F6FB"/>
                </a:solidFill>
                <a:latin typeface="Aptos"/>
              </a:rPr>
              <a:t>George Prince
ML +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063240"/>
            <a:ext cx="3154680" cy="141732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063240"/>
            <a:ext cx="54864" cy="1417320"/>
          </a:xfrm>
          <a:prstGeom prst="rect">
            <a:avLst/>
          </a:prstGeom>
          <a:solidFill>
            <a:srgbClr val="FF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191256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BF48"/>
                </a:solidFill>
                <a:latin typeface="Aptos"/>
              </a:rPr>
              <a:t>CORE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3630168"/>
            <a:ext cx="278892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1F6FB"/>
                </a:solidFill>
                <a:latin typeface="Aptos"/>
              </a:rPr>
              <a:t>Aditya Tripathi
Feature engineering + Cyber 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063240"/>
            <a:ext cx="3154680" cy="141732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3063240"/>
            <a:ext cx="54864" cy="1417320"/>
          </a:xfrm>
          <a:prstGeom prst="rect">
            <a:avLst/>
          </a:prstGeom>
          <a:solidFill>
            <a:srgbClr val="4ED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3191256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EDA8B"/>
                </a:solidFill>
                <a:latin typeface="Aptos"/>
              </a:rPr>
              <a:t>PRODUCT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3630168"/>
            <a:ext cx="278892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6FB"/>
                </a:solidFill>
                <a:latin typeface="Aptos"/>
              </a:rPr>
              <a:t>Harsh Dubey • Harsh Gupta • Rish Kumar • Ishita Singh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1F6FB"/>
                </a:solidFill>
                <a:latin typeface="Aptos"/>
              </a:rPr>
              <a:t>Principle: one owner per module, clear hand-offs between modules.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6C2"/>
                </a:solidFill>
                <a:latin typeface="Aptos"/>
              </a:rPr>
              <a:t>CYBORNIX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1F6FB"/>
                </a:solidFill>
                <a:latin typeface="Aptos"/>
              </a:rPr>
              <a:t>Team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1C7"/>
                </a:solidFill>
                <a:latin typeface="Aptos"/>
              </a:rPr>
              <a:t>Who owns which layer of CYBORNIX?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2FD6C2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965960" cy="141732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4864" cy="1417320"/>
          </a:xfrm>
          <a:prstGeom prst="rect">
            <a:avLst/>
          </a:prstGeom>
          <a:solidFill>
            <a:srgbClr val="2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36776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D6C2"/>
                </a:solidFill>
                <a:latin typeface="Aptos"/>
              </a:rPr>
              <a:t>George Prince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75688"/>
            <a:ext cx="160020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6FB"/>
                </a:solidFill>
                <a:latin typeface="Aptos"/>
              </a:rPr>
              <a:t>ML &amp; Prediction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508760"/>
            <a:ext cx="1965960" cy="141732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360" y="1508760"/>
            <a:ext cx="54864" cy="1417320"/>
          </a:xfrm>
          <a:prstGeom prst="rect">
            <a:avLst/>
          </a:prstGeom>
          <a:solidFill>
            <a:srgbClr val="5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1636776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391FF"/>
                </a:solidFill>
                <a:latin typeface="Aptos"/>
              </a:rPr>
              <a:t>Harsh Gupta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075688"/>
            <a:ext cx="160020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6FB"/>
                </a:solidFill>
                <a:latin typeface="Aptos"/>
              </a:rPr>
              <a:t>Database &amp;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508760"/>
            <a:ext cx="1965960" cy="141732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1508760"/>
            <a:ext cx="54864" cy="1417320"/>
          </a:xfrm>
          <a:prstGeom prst="rect">
            <a:avLst/>
          </a:prstGeom>
          <a:solidFill>
            <a:srgbClr val="FF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7" y="1636776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BF48"/>
                </a:solidFill>
                <a:latin typeface="Aptos"/>
              </a:rPr>
              <a:t>Aditya Tripathi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7" y="2075688"/>
            <a:ext cx="160020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6FB"/>
                </a:solidFill>
                <a:latin typeface="Aptos"/>
              </a:rPr>
              <a:t>Feature Engineering
+ Cyber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508760"/>
            <a:ext cx="1965960" cy="141732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1508760"/>
            <a:ext cx="54864" cy="1417320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2088" y="1636776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5B69"/>
                </a:solidFill>
                <a:latin typeface="Aptos"/>
              </a:rPr>
              <a:t>Ishita Singh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2075688"/>
            <a:ext cx="160020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6FB"/>
                </a:solidFill>
                <a:latin typeface="Aptos"/>
              </a:rPr>
              <a:t>Presentation
+ Documentation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3794760"/>
            <a:ext cx="1965960" cy="141732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3794760"/>
            <a:ext cx="54864" cy="1417320"/>
          </a:xfrm>
          <a:prstGeom prst="rect">
            <a:avLst/>
          </a:prstGeom>
          <a:solidFill>
            <a:srgbClr val="A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29968" y="3922776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477FF"/>
                </a:solidFill>
                <a:latin typeface="Aptos"/>
              </a:rPr>
              <a:t>Harsh Dubey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4361688"/>
            <a:ext cx="160020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6FB"/>
                </a:solidFill>
                <a:latin typeface="Aptos"/>
              </a:rPr>
              <a:t>Backend &amp; APIs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794760"/>
            <a:ext cx="1965960" cy="141732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794760"/>
            <a:ext cx="54864" cy="1417320"/>
          </a:xfrm>
          <a:prstGeom prst="rect">
            <a:avLst/>
          </a:prstGeom>
          <a:solidFill>
            <a:srgbClr val="4ED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7" y="3922776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EDA8B"/>
                </a:solidFill>
                <a:latin typeface="Aptos"/>
              </a:rPr>
              <a:t>Rish Kumar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4361688"/>
            <a:ext cx="160020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6FB"/>
                </a:solidFill>
                <a:latin typeface="Aptos"/>
              </a:rPr>
              <a:t>Frontend &amp;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1546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391FF"/>
                </a:solidFill>
                <a:latin typeface="Aptos"/>
              </a:rP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1546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BF48"/>
                </a:solidFill>
                <a:latin typeface="Aptos"/>
              </a:rPr>
              <a:t>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1546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EDA8B"/>
                </a:solidFill>
                <a:latin typeface="Aptos"/>
              </a:rPr>
              <a:t>PRODUCT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1F6FB"/>
                </a:solidFill>
                <a:latin typeface="Aptos"/>
              </a:rPr>
              <a:t>Flow: Dataset → Feature Engineering → ML → Memory → Backend → Frontend →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6C2"/>
                </a:solidFill>
                <a:latin typeface="Aptos"/>
              </a:rPr>
              <a:t>CYBORNIX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1F6FB"/>
                </a:solidFill>
                <a:latin typeface="Aptos"/>
              </a:rPr>
              <a:t>Complete Technical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1C7"/>
                </a:solidFill>
                <a:latin typeface="Aptos"/>
              </a:rPr>
              <a:t>Each hand-off has a single responsible owner.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2FD6C2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429000" cy="150876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4864" cy="1508760"/>
          </a:xfrm>
          <a:prstGeom prst="rect">
            <a:avLst/>
          </a:prstGeom>
          <a:solidFill>
            <a:srgbClr val="5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45336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391FF"/>
                </a:solidFill>
                <a:latin typeface="Aptos"/>
              </a:rPr>
              <a:t>1 •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84248"/>
            <a:ext cx="3063240" cy="813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6FB"/>
                </a:solidFill>
                <a:latin typeface="Aptos"/>
              </a:rPr>
              <a:t>Harsh Gupta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50876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54864" cy="1508760"/>
          </a:xfrm>
          <a:prstGeom prst="rect">
            <a:avLst/>
          </a:prstGeom>
          <a:solidFill>
            <a:srgbClr val="FF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45336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F48"/>
                </a:solidFill>
                <a:latin typeface="Aptos"/>
              </a:rPr>
              <a:t>2 • Feature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84248"/>
            <a:ext cx="3063240" cy="813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6FB"/>
                </a:solidFill>
                <a:latin typeface="Aptos"/>
              </a:rPr>
              <a:t>Aditya Tripathi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17320"/>
            <a:ext cx="3429000" cy="150876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417320"/>
            <a:ext cx="54864" cy="1508760"/>
          </a:xfrm>
          <a:prstGeom prst="rect">
            <a:avLst/>
          </a:prstGeom>
          <a:solidFill>
            <a:srgbClr val="2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545336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D6C2"/>
                </a:solidFill>
                <a:latin typeface="Aptos"/>
              </a:rPr>
              <a:t>3 • ML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1984248"/>
            <a:ext cx="3063240" cy="813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6FB"/>
                </a:solidFill>
                <a:latin typeface="Aptos"/>
              </a:rPr>
              <a:t>George Prince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383280"/>
            <a:ext cx="3429000" cy="150876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83280"/>
            <a:ext cx="54864" cy="1508760"/>
          </a:xfrm>
          <a:prstGeom prst="rect">
            <a:avLst/>
          </a:prstGeom>
          <a:solidFill>
            <a:srgbClr val="FF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511296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F48"/>
                </a:solidFill>
                <a:latin typeface="Aptos"/>
              </a:rPr>
              <a:t>4 • Cyber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950208"/>
            <a:ext cx="3063240" cy="813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6FB"/>
                </a:solidFill>
                <a:latin typeface="Aptos"/>
              </a:rPr>
              <a:t>Aditya Tripathi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383280"/>
            <a:ext cx="3429000" cy="150876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383280"/>
            <a:ext cx="54864" cy="1508760"/>
          </a:xfrm>
          <a:prstGeom prst="rect">
            <a:avLst/>
          </a:prstGeom>
          <a:solidFill>
            <a:srgbClr val="A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511296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477FF"/>
                </a:solidFill>
                <a:latin typeface="Aptos"/>
              </a:rPr>
              <a:t>5 • Backend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950208"/>
            <a:ext cx="3063240" cy="813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6FB"/>
                </a:solidFill>
                <a:latin typeface="Aptos"/>
              </a:rPr>
              <a:t>Harsh Dubey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383280"/>
            <a:ext cx="3429000" cy="150876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383280"/>
            <a:ext cx="54864" cy="1508760"/>
          </a:xfrm>
          <a:prstGeom prst="rect">
            <a:avLst/>
          </a:prstGeom>
          <a:solidFill>
            <a:srgbClr val="4ED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3511296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EDA8B"/>
                </a:solidFill>
                <a:latin typeface="Aptos"/>
              </a:rPr>
              <a:t>6 • 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3950208"/>
            <a:ext cx="3063240" cy="813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6FB"/>
                </a:solidFill>
                <a:latin typeface="Aptos"/>
              </a:rPr>
              <a:t>Rish Kumar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1F6FB"/>
                </a:solidFill>
                <a:latin typeface="Aptos"/>
              </a:rPr>
              <a:t>Cross-cutting: Ishita keeps documentation, evidence, slide narrative and judge-facing explanation consistent.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6C2"/>
                </a:solidFill>
                <a:latin typeface="Aptos"/>
              </a:rPr>
              <a:t>CYBORNIX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1F6FB"/>
                </a:solidFill>
                <a:latin typeface="Aptos"/>
              </a:rPr>
              <a:t>Aditya Tripathi — Your Complete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1C7"/>
                </a:solidFill>
                <a:latin typeface="Aptos"/>
              </a:rPr>
              <a:t>Feature engineering + Cyber Memory +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2FD6C2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520440" cy="452628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54864" cy="4526280"/>
          </a:xfrm>
          <a:prstGeom prst="rect">
            <a:avLst/>
          </a:prstGeom>
          <a:solidFill>
            <a:srgbClr val="FF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53895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BF48"/>
                </a:solidFill>
                <a:latin typeface="Aptos"/>
              </a:rPr>
              <a:t>A.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92807"/>
            <a:ext cx="3154680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F1F6FB"/>
                </a:solidFill>
                <a:latin typeface="Aptos"/>
              </a:rPr>
              <a:t>You prepare raw security data for ML.
• Select useful columns
• Handle missing / invalid values
• Encode categorical fields
• Scale where needed
• Create risk-relevant features
• Remove leakage / duplicates
• Create train/test-ready data
Example:
unknown_device + privileged_account + unusual_hour → risk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452628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54864" cy="4526280"/>
          </a:xfrm>
          <a:prstGeom prst="rect">
            <a:avLst/>
          </a:prstGeom>
          <a:solidFill>
            <a:srgbClr val="2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453895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D6C2"/>
                </a:solidFill>
                <a:latin typeface="Aptos"/>
              </a:rPr>
              <a:t>B. CYBER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892807"/>
            <a:ext cx="3154680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F1F6FB"/>
                </a:solidFill>
                <a:latin typeface="Aptos"/>
              </a:rPr>
              <a:t>You define how an incident becomes reusable memory.
• Create incident summary
• Store historical context
• Generate / store embeddings
• Similarity search
• Retrieve top historical incidents
• Record response + outcome
• Feed new outcomes back into 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520440" cy="452628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54864" cy="4526280"/>
          </a:xfrm>
          <a:prstGeom prst="rect">
            <a:avLst/>
          </a:prstGeom>
          <a:solidFill>
            <a:srgbClr val="4ED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453895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EDA8B"/>
                </a:solidFill>
                <a:latin typeface="Aptos"/>
              </a:rPr>
              <a:t>C.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892807"/>
            <a:ext cx="3154680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F1F6FB"/>
                </a:solidFill>
                <a:latin typeface="Aptos"/>
              </a:rPr>
              <a:t>You connect the pieces logically.
• ML input/output contract
• Memory → prediction context
• Simulation input structure
• Recommendation logic
• End-to-end demo flow
• Coordinate with DB + backend + frontend
You own the architecture story, not every line of code.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F1F6FB"/>
                </a:solidFill>
                <a:latin typeface="Aptos"/>
              </a:rPr>
              <a:t>Aditya's one-line role: “I transform raw security data into meaningful features and reusable cyber memory, then connect that intelligence to the product workflow.”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6C2"/>
                </a:solidFill>
                <a:latin typeface="Aptos"/>
              </a:rPr>
              <a:t>CYBORNIX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1F6FB"/>
                </a:solidFill>
                <a:latin typeface="Aptos"/>
              </a:rPr>
              <a:t>George Prince — ML &amp;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1C7"/>
                </a:solidFill>
                <a:latin typeface="Aptos"/>
              </a:rPr>
              <a:t>Use simple, defensible algorithms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2FD6C2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52628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54864" cy="4526280"/>
          </a:xfrm>
          <a:prstGeom prst="rect">
            <a:avLst/>
          </a:prstGeom>
          <a:solidFill>
            <a:srgbClr val="2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53895"/>
            <a:ext cx="49377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D6C2"/>
                </a:solidFill>
                <a:latin typeface="Aptos"/>
              </a:rPr>
              <a:t>WHAT GEORGE BUILDS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4937759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1F6FB"/>
                </a:solidFill>
                <a:latin typeface="Aptos"/>
              </a:rPr>
              <a:t>• Train / validation split
• Baseline classifier
• Risk scoring
• Attack-stage prediction
• Model evaluation
• Save model + preprocessing pipeline
• Expose prediction output for backend
Inputs come from Aditya's engineered features.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03520" cy="452628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54864" cy="4526280"/>
          </a:xfrm>
          <a:prstGeom prst="rect">
            <a:avLst/>
          </a:prstGeom>
          <a:solidFill>
            <a:srgbClr val="5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453895"/>
            <a:ext cx="49377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391FF"/>
                </a:solidFill>
                <a:latin typeface="Aptos"/>
              </a:rPr>
              <a:t>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892807"/>
            <a:ext cx="4937759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1F6FB"/>
                </a:solidFill>
                <a:latin typeface="Aptos"/>
              </a:rPr>
              <a:t>Primary:
• XGBoost — tabular classification / risk
• Random Forest — baseline + feature importance
Supporting:
• Isolation Forest — anomaly detection
• Logistic Regression — interpretable baseline
Metrics:
Precision • Recall • F1 • ROC-AUC / PR-AUC
Do not add deep learning unless results justify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6C2"/>
                </a:solidFill>
                <a:latin typeface="Aptos"/>
              </a:rPr>
              <a:t>CYBORNIX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1F6FB"/>
                </a:solidFill>
                <a:latin typeface="Aptos"/>
              </a:rPr>
              <a:t>Harsh Gupta — Database &amp;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1C7"/>
                </a:solidFill>
                <a:latin typeface="Aptos"/>
              </a:rPr>
              <a:t>Own storage, ingestion and data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2FD6C2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52628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54864" cy="4526280"/>
          </a:xfrm>
          <a:prstGeom prst="rect">
            <a:avLst/>
          </a:prstGeom>
          <a:solidFill>
            <a:srgbClr val="5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53895"/>
            <a:ext cx="49377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391FF"/>
                </a:solidFill>
                <a:latin typeface="Aptos"/>
              </a:rPr>
              <a:t>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4937759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1F6FB"/>
                </a:solidFill>
                <a:latin typeface="Aptos"/>
              </a:rPr>
              <a:t>PostgreSQL tables:
• security_events
• incidents
• assets
• accounts
• predictions
• simulations
• recommendations
• outcomes
Responsibilities:
• schema + relationships
• indexes
• constraints
• backup / seed data
• API-ready queries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03520" cy="452628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54864" cy="4526280"/>
          </a:xfrm>
          <a:prstGeom prst="rect">
            <a:avLst/>
          </a:prstGeom>
          <a:solidFill>
            <a:srgbClr val="4ED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453895"/>
            <a:ext cx="49377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EDA8B"/>
                </a:solidFill>
                <a:latin typeface="Aptos"/>
              </a:rPr>
              <a:t>DATA + MEMORY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892807"/>
            <a:ext cx="4937759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1F6FB"/>
                </a:solidFill>
                <a:latin typeface="Aptos"/>
              </a:rPr>
              <a:t>• Import dataset
• Clean / validate records
• Maintain source IDs
• Store incident summaries
• PostgreSQL + pgvector for embeddings
• Prepare relationship data for Neo4j
Hand-off:
Clean data → Aditya
Stored ML outputs → Harsh Dubey
Memory records → Frontend via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6C2"/>
                </a:solidFill>
                <a:latin typeface="Aptos"/>
              </a:rPr>
              <a:t>CYBORNIX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1F6FB"/>
                </a:solidFill>
                <a:latin typeface="Aptos"/>
              </a:rPr>
              <a:t>Harsh Dubey — Backend &amp;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1C7"/>
                </a:solidFill>
                <a:latin typeface="Aptos"/>
              </a:rPr>
              <a:t>Turn separate modules into one working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2FD6C2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52628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54864" cy="4526280"/>
          </a:xfrm>
          <a:prstGeom prst="rect">
            <a:avLst/>
          </a:prstGeom>
          <a:solidFill>
            <a:srgbClr val="A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53895"/>
            <a:ext cx="49377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A477FF"/>
                </a:solidFill>
                <a:latin typeface="Aptos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4937759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1F6FB"/>
                </a:solidFill>
                <a:latin typeface="Aptos"/>
              </a:rPr>
              <a:t>Recommended: Python + FastAPI
Endpoints:
• /incidents
• /risk/predict
• /memory/search
• /graph/path
• /simulate
• /recommend
• /approval
• /outcome
Responsibilities:
• validation
• orchestration
• authentication basics
• error 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03520" cy="452628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54864" cy="4526280"/>
          </a:xfrm>
          <a:prstGeom prst="rect">
            <a:avLst/>
          </a:prstGeom>
          <a:solidFill>
            <a:srgbClr val="2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453895"/>
            <a:ext cx="49377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D6C2"/>
                </a:solidFill>
                <a:latin typeface="Aptos"/>
              </a:rPr>
              <a:t>HAND-OFFS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892807"/>
            <a:ext cx="4937759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1F6FB"/>
                </a:solidFill>
                <a:latin typeface="Aptos"/>
              </a:rPr>
              <a:t>Aditya → feature / memory context
George → prediction result
Harsh Gupta → database queries
Neo4j → graph result
Rish → JSON API responses
Harsh's goal:
One API request should be able to drive the complete incident-analysis 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6C2"/>
                </a:solidFill>
                <a:latin typeface="Aptos"/>
              </a:rPr>
              <a:t>CYBORNIX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1F6FB"/>
                </a:solidFill>
                <a:latin typeface="Aptos"/>
              </a:rPr>
              <a:t>Rish Kumar —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1C7"/>
                </a:solidFill>
                <a:latin typeface="Aptos"/>
              </a:rPr>
              <a:t>Build the analyst-facing application, not a chatbot.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2FD6C2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52628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54864" cy="4526280"/>
          </a:xfrm>
          <a:prstGeom prst="rect">
            <a:avLst/>
          </a:prstGeom>
          <a:solidFill>
            <a:srgbClr val="4ED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53895"/>
            <a:ext cx="49377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EDA8B"/>
                </a:solidFill>
                <a:latin typeface="Aptos"/>
              </a:rPr>
              <a:t>SCREENS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4937759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1F6FB"/>
                </a:solidFill>
                <a:latin typeface="Aptos"/>
              </a:rPr>
              <a:t>1. Dashboard
2. Incident Analysis
3. Cyber Memory
4. Attack Graph
5. Future Prediction
6. What-if Simulator
7. Recommendation
8. Human Approval
9. Outcome / Learning
Use real API data, not hard-coded cards.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03520" cy="452628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54864" cy="4526280"/>
          </a:xfrm>
          <a:prstGeom prst="rect">
            <a:avLst/>
          </a:prstGeom>
          <a:solidFill>
            <a:srgbClr val="2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453895"/>
            <a:ext cx="49377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D6C2"/>
                </a:solidFill>
                <a:latin typeface="Aptos"/>
              </a:rPr>
              <a:t>TECHNICAL HAND-OFF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892807"/>
            <a:ext cx="4937759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1F6FB"/>
                </a:solidFill>
                <a:latin typeface="Aptos"/>
              </a:rPr>
              <a:t>• React components
• API integration
• Risk charts
• Similar-incident cards
• Graph visualization
• Simulation comparison
• Approval action
• Responsive layout
Rish receives API contracts from Harsh Dubey and turns them into the live demo.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6C2"/>
                </a:solidFill>
                <a:latin typeface="Aptos"/>
              </a:rPr>
              <a:t>CYBORNIX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1F6FB"/>
                </a:solidFill>
                <a:latin typeface="Aptos"/>
              </a:rPr>
              <a:t>Ishita Singh — Presentation &amp;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1C7"/>
                </a:solidFill>
                <a:latin typeface="Aptos"/>
              </a:rPr>
              <a:t>Make the technical work easy for judges to understand.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2FD6C2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52628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54864" cy="4526280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53895"/>
            <a:ext cx="49377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5B69"/>
                </a:solidFill>
                <a:latin typeface="Aptos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4937759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1F6FB"/>
                </a:solidFill>
                <a:latin typeface="Aptos"/>
              </a:rPr>
              <a:t>• Problem statement
• Government pain point
• Why existing SIEM/SOC is not the whole solution
• CYBORNIX architecture
• USP: Cyber Memory + Prediction + Simulation
• Demo narration
• Impact / scalability
Keep every claim linked to a feature we actually build.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03520" cy="452628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54864" cy="4526280"/>
          </a:xfrm>
          <a:prstGeom prst="rect">
            <a:avLst/>
          </a:prstGeom>
          <a:solidFill>
            <a:srgbClr val="5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453895"/>
            <a:ext cx="49377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391FF"/>
                </a:solidFill>
                <a:latin typeface="Aptos"/>
              </a:rPr>
              <a:t>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892807"/>
            <a:ext cx="4937759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1F6FB"/>
                </a:solidFill>
                <a:latin typeface="Aptos"/>
              </a:rPr>
              <a:t>• Dataset source + columns
• Architecture diagram
• Module ownership
• ML results
• Screenshots
• Test cases
• Limitations
• Judge FAQ
Ishita should not own technical implementation; she owns clarity, evidence and consistency.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6C2"/>
                </a:solidFill>
                <a:latin typeface="Aptos"/>
              </a:rPr>
              <a:t>CYBORNIX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1F6FB"/>
                </a:solidFill>
                <a:latin typeface="Aptos"/>
              </a:rPr>
              <a:t>No-Overlap Responsibility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1C7"/>
                </a:solidFill>
                <a:latin typeface="Aptos"/>
              </a:rPr>
              <a:t>Who does what — and what they do NOT 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2FD6C2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1828800" cy="621792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4864" cy="621792"/>
          </a:xfrm>
          <a:prstGeom prst="rect">
            <a:avLst/>
          </a:prstGeom>
          <a:solidFill>
            <a:srgbClr val="2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62456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D6C2"/>
                </a:solidFill>
                <a:latin typeface="Aptos"/>
              </a:rPr>
              <a:t>George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01368"/>
            <a:ext cx="1463040" cy="-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F1F6FB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380744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1F6FB"/>
                </a:solidFill>
                <a:latin typeface="Aptos"/>
              </a:rPr>
              <a:t>ML, model evaluation,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380744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1C7"/>
                </a:solidFill>
                <a:latin typeface="Aptos"/>
              </a:rPr>
              <a:t>NOT: DB schema /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84248"/>
            <a:ext cx="1828800" cy="621792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84248"/>
            <a:ext cx="54864" cy="621792"/>
          </a:xfrm>
          <a:prstGeom prst="rect">
            <a:avLst/>
          </a:prstGeom>
          <a:solidFill>
            <a:srgbClr val="FF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11226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BF48"/>
                </a:solidFill>
                <a:latin typeface="Aptos"/>
              </a:rPr>
              <a:t>Aditya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551176"/>
            <a:ext cx="1463040" cy="-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F1F6FB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130552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1F6FB"/>
                </a:solidFill>
                <a:latin typeface="Aptos"/>
              </a:rPr>
              <a:t>Feature engineering, Cyber Memory, integration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3055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1C7"/>
                </a:solidFill>
                <a:latin typeface="Aptos"/>
              </a:rPr>
              <a:t>NOT: Full ML training / frontend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734056"/>
            <a:ext cx="1828800" cy="621792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2734056"/>
            <a:ext cx="54864" cy="621792"/>
          </a:xfrm>
          <a:prstGeom prst="rect">
            <a:avLst/>
          </a:prstGeom>
          <a:solidFill>
            <a:srgbClr val="5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286207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391FF"/>
                </a:solidFill>
                <a:latin typeface="Aptos"/>
              </a:rPr>
              <a:t>Harsh Gupta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300984"/>
            <a:ext cx="1463040" cy="-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F1F6FB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28803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1F6FB"/>
                </a:solidFill>
                <a:latin typeface="Aptos"/>
              </a:rPr>
              <a:t>Database, ingestion,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88036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1C7"/>
                </a:solidFill>
                <a:latin typeface="Aptos"/>
              </a:rPr>
              <a:t>NOT: ML model / 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483864"/>
            <a:ext cx="1828800" cy="621792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483864"/>
            <a:ext cx="54864" cy="621792"/>
          </a:xfrm>
          <a:prstGeom prst="rect">
            <a:avLst/>
          </a:prstGeom>
          <a:solidFill>
            <a:srgbClr val="A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611880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477FF"/>
                </a:solidFill>
                <a:latin typeface="Aptos"/>
              </a:rPr>
              <a:t>Harsh Dubey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050791"/>
            <a:ext cx="1463040" cy="-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F1F6FB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63016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1F6FB"/>
                </a:solidFill>
                <a:latin typeface="Aptos"/>
              </a:rPr>
              <a:t>FastAPI, orchestration, API contracts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630168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1C7"/>
                </a:solidFill>
                <a:latin typeface="Aptos"/>
              </a:rPr>
              <a:t>NOT: ML research / PPT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233672"/>
            <a:ext cx="1828800" cy="621792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4233672"/>
            <a:ext cx="54864" cy="621792"/>
          </a:xfrm>
          <a:prstGeom prst="rect">
            <a:avLst/>
          </a:prstGeom>
          <a:solidFill>
            <a:srgbClr val="4ED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361688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EDA8B"/>
                </a:solidFill>
                <a:latin typeface="Aptos"/>
              </a:rPr>
              <a:t>Rish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4800600"/>
            <a:ext cx="1463040" cy="-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F1F6FB"/>
                </a:solidFill>
                <a:latin typeface="Aptos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379976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1F6FB"/>
                </a:solidFill>
                <a:latin typeface="Aptos"/>
              </a:rPr>
              <a:t>React UI, visualizations, API consumption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379976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1C7"/>
                </a:solidFill>
                <a:latin typeface="Aptos"/>
              </a:rPr>
              <a:t>NOT: DB design / ML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983479"/>
            <a:ext cx="1828800" cy="621792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" y="4983479"/>
            <a:ext cx="54864" cy="621792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5111495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5B69"/>
                </a:solidFill>
                <a:latin typeface="Aptos"/>
              </a:rPr>
              <a:t>Ishita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" y="5550407"/>
            <a:ext cx="1463040" cy="-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F1F6FB"/>
                </a:solidFill>
                <a:latin typeface="Aptos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129783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1F6FB"/>
                </a:solidFill>
                <a:latin typeface="Aptos"/>
              </a:rPr>
              <a:t>PPT, documentation, demo narrative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5129783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1C7"/>
                </a:solidFill>
                <a:latin typeface="Aptos"/>
              </a:rPr>
              <a:t>NOT: Core implementation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6C2"/>
                </a:solidFill>
                <a:latin typeface="Aptos"/>
              </a:rPr>
              <a:t>CYBORNIX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1F6FB"/>
                </a:solidFill>
                <a:latin typeface="Aptos"/>
              </a:rPr>
              <a:t>Presentation-Day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1C7"/>
                </a:solidFill>
                <a:latin typeface="Aptos"/>
              </a:rPr>
              <a:t>Each member should carry one proof artifact.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2FD6C2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057400" cy="621792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54864" cy="621792"/>
          </a:xfrm>
          <a:prstGeom prst="rect">
            <a:avLst/>
          </a:prstGeom>
          <a:solidFill>
            <a:srgbClr val="FF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62456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BF48"/>
                </a:solidFill>
                <a:latin typeface="Aptos"/>
              </a:rPr>
              <a:t>Aditya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01368"/>
            <a:ext cx="1691640" cy="-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F1F6FB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37160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6FB"/>
                </a:solidFill>
                <a:latin typeface="Aptos"/>
              </a:rPr>
              <a:t>Feature list + one engineered example + Cyber Memory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84248"/>
            <a:ext cx="2057400" cy="621792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984248"/>
            <a:ext cx="54864" cy="621792"/>
          </a:xfrm>
          <a:prstGeom prst="rect">
            <a:avLst/>
          </a:prstGeom>
          <a:solidFill>
            <a:srgbClr val="2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112264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D6C2"/>
                </a:solidFill>
                <a:latin typeface="Aptos"/>
              </a:rPr>
              <a:t>George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551176"/>
            <a:ext cx="1691640" cy="-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F1F6FB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121408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6FB"/>
                </a:solidFill>
                <a:latin typeface="Aptos"/>
              </a:rPr>
              <a:t>Model name + metric + one prediction example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34056"/>
            <a:ext cx="2057400" cy="621792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734056"/>
            <a:ext cx="54864" cy="621792"/>
          </a:xfrm>
          <a:prstGeom prst="rect">
            <a:avLst/>
          </a:prstGeom>
          <a:solidFill>
            <a:srgbClr val="5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862072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391FF"/>
                </a:solidFill>
                <a:latin typeface="Aptos"/>
              </a:rPr>
              <a:t>Harsh Gupta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300984"/>
            <a:ext cx="1691640" cy="-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F1F6FB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871216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6FB"/>
                </a:solidFill>
                <a:latin typeface="Aptos"/>
              </a:rPr>
              <a:t>ER diagram + sample database record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83864"/>
            <a:ext cx="2057400" cy="621792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483864"/>
            <a:ext cx="54864" cy="621792"/>
          </a:xfrm>
          <a:prstGeom prst="rect">
            <a:avLst/>
          </a:prstGeom>
          <a:solidFill>
            <a:srgbClr val="A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611880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477FF"/>
                </a:solidFill>
                <a:latin typeface="Aptos"/>
              </a:rPr>
              <a:t>Harsh Dubey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050791"/>
            <a:ext cx="1691640" cy="-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F1F6FB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621024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6FB"/>
                </a:solidFill>
                <a:latin typeface="Aptos"/>
              </a:rPr>
              <a:t>API endpoint list + one working request/response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233672"/>
            <a:ext cx="2057400" cy="621792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233672"/>
            <a:ext cx="54864" cy="621792"/>
          </a:xfrm>
          <a:prstGeom prst="rect">
            <a:avLst/>
          </a:prstGeom>
          <a:solidFill>
            <a:srgbClr val="4ED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4361688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EDA8B"/>
                </a:solidFill>
                <a:latin typeface="Aptos"/>
              </a:rPr>
              <a:t>Rish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4800600"/>
            <a:ext cx="1691640" cy="-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F1F6FB"/>
                </a:solidFill>
                <a:latin typeface="Aptos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4370832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6FB"/>
                </a:solidFill>
                <a:latin typeface="Aptos"/>
              </a:rPr>
              <a:t>Live incident → simulator UI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983479"/>
            <a:ext cx="2057400" cy="621792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4983479"/>
            <a:ext cx="54864" cy="621792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111495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5B69"/>
                </a:solidFill>
                <a:latin typeface="Aptos"/>
              </a:rPr>
              <a:t>Ishita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5550407"/>
            <a:ext cx="1691640" cy="-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F1F6FB"/>
                </a:solidFill>
                <a:latin typeface="Aptos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512064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6FB"/>
                </a:solidFill>
                <a:latin typeface="Aptos"/>
              </a:rPr>
              <a:t>Problem → solution → impact script + final PPT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6C2"/>
                </a:solidFill>
                <a:latin typeface="Aptos"/>
              </a:rPr>
              <a:t>CYBORNIX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1F6FB"/>
                </a:solidFill>
                <a:latin typeface="Aptos"/>
              </a:rPr>
              <a:t>Final CYBORNIX Team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1C7"/>
                </a:solidFill>
                <a:latin typeface="Aptos"/>
              </a:rPr>
              <a:t>One story from raw data to a human-approved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2FD6C2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737360" cy="141732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54864" cy="1417320"/>
          </a:xfrm>
          <a:prstGeom prst="rect">
            <a:avLst/>
          </a:prstGeom>
          <a:solidFill>
            <a:srgbClr val="5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956816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391FF"/>
                </a:solidFill>
                <a:latin typeface="Aptos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95728"/>
            <a:ext cx="137160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1F6FB"/>
                </a:solidFill>
                <a:latin typeface="Aptos"/>
              </a:rPr>
              <a:t>Harsh Gupta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1828800"/>
            <a:ext cx="1737360" cy="141732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50008" y="1828800"/>
            <a:ext cx="54864" cy="1417320"/>
          </a:xfrm>
          <a:prstGeom prst="rect">
            <a:avLst/>
          </a:prstGeom>
          <a:solidFill>
            <a:srgbClr val="FF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51176" y="1956816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BF48"/>
                </a:solidFill>
                <a:latin typeface="Aptos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1176" y="2395728"/>
            <a:ext cx="137160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1F6FB"/>
                </a:solidFill>
                <a:latin typeface="Aptos"/>
              </a:rPr>
              <a:t>Aditya Tripathi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828800"/>
            <a:ext cx="1737360" cy="141732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1828800"/>
            <a:ext cx="54864" cy="1417320"/>
          </a:xfrm>
          <a:prstGeom prst="rect">
            <a:avLst/>
          </a:prstGeom>
          <a:solidFill>
            <a:srgbClr val="2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1956816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D6C2"/>
                </a:solidFill>
                <a:latin typeface="Aptos"/>
              </a:rPr>
              <a:t>ML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395728"/>
            <a:ext cx="137160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1F6FB"/>
                </a:solidFill>
                <a:latin typeface="Aptos"/>
              </a:rPr>
              <a:t>George Prince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1828800"/>
            <a:ext cx="1737360" cy="141732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1828800"/>
            <a:ext cx="54864" cy="1417320"/>
          </a:xfrm>
          <a:prstGeom prst="rect">
            <a:avLst/>
          </a:prstGeom>
          <a:solidFill>
            <a:srgbClr val="FF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1956816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BF48"/>
                </a:solidFill>
                <a:latin typeface="Aptos"/>
              </a:rPr>
              <a:t>CYBER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395728"/>
            <a:ext cx="137160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1F6FB"/>
                </a:solidFill>
                <a:latin typeface="Aptos"/>
              </a:rPr>
              <a:t>Aditya Tripathi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828800"/>
            <a:ext cx="1737360" cy="141732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65592" y="1828800"/>
            <a:ext cx="54864" cy="1417320"/>
          </a:xfrm>
          <a:prstGeom prst="rect">
            <a:avLst/>
          </a:prstGeom>
          <a:solidFill>
            <a:srgbClr val="A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1956816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477FF"/>
                </a:solidFill>
                <a:latin typeface="Aptos"/>
              </a:rP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395728"/>
            <a:ext cx="137160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1F6FB"/>
                </a:solidFill>
                <a:latin typeface="Aptos"/>
              </a:rPr>
              <a:t>Harsh Dubey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1828800"/>
            <a:ext cx="1737360" cy="1417320"/>
          </a:xfrm>
          <a:prstGeom prst="roundRect">
            <a:avLst/>
          </a:prstGeom>
          <a:solidFill>
            <a:srgbClr val="111C2D"/>
          </a:solidFill>
          <a:ln>
            <a:solidFill>
              <a:srgbClr val="2A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04120" y="1828800"/>
            <a:ext cx="54864" cy="1417320"/>
          </a:xfrm>
          <a:prstGeom prst="rect">
            <a:avLst/>
          </a:prstGeom>
          <a:solidFill>
            <a:srgbClr val="4ED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05288" y="1956816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EDA8B"/>
                </a:solidFill>
                <a:latin typeface="Aptos"/>
              </a:rPr>
              <a:t>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05288" y="2395728"/>
            <a:ext cx="137160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1F6FB"/>
                </a:solidFill>
                <a:latin typeface="Aptos"/>
              </a:rPr>
              <a:t>Rish Kumar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34290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FB1C7"/>
                </a:solidFill>
                <a:latin typeface="Aptos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88620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1F6FB"/>
                </a:solidFill>
                <a:latin typeface="Aptos"/>
              </a:rPr>
              <a:t>Incident → Remember → Predict → Simulate → Recommend → Human Approval → Outcome → 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5B69"/>
                </a:solidFill>
                <a:latin typeface="Aptos"/>
              </a:rPr>
              <a:t>Ishita Singh presents the story and evidence across the entire pipeline.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BF48"/>
                </a:solidFill>
                <a:latin typeface="Aptos"/>
              </a:rPr>
              <a:t>Aditya Tripathi = Feature Engineering + Cyber Memory + Integration Owner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